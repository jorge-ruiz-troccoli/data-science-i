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7"/>
  </p:notesMasterIdLst>
  <p:sldIdLst>
    <p:sldId id="334" r:id="rId2"/>
    <p:sldId id="336" r:id="rId3"/>
    <p:sldId id="355" r:id="rId4"/>
    <p:sldId id="353" r:id="rId5"/>
    <p:sldId id="349" r:id="rId6"/>
  </p:sldIdLst>
  <p:sldSz cx="9144000" cy="5143500" type="screen16x9"/>
  <p:notesSz cx="6858000" cy="9144000"/>
  <p:embeddedFontLst>
    <p:embeddedFont>
      <p:font typeface="DM Sans" panose="020F0502020204030204" pitchFamily="2" charset="0"/>
      <p:regular r:id="rId8"/>
      <p:bold r:id="rId9"/>
      <p:italic r:id="rId10"/>
      <p:boldItalic r:id="rId11"/>
    </p:embeddedFont>
    <p:embeddedFont>
      <p:font typeface="Helvetica Neue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aa0dd839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1" name="Google Shape;771;g2aa0dd839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aa0dd8394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g2aa0dd8394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aa0dd8394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g2aa0dd8394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381323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aa0dd8394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g2aa0dd8394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196325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aa0dd8394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g2aa0dd8394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45348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7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2">
  <p:cSld name="SECTION_HEADER_1_1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3">
  <p:cSld name="SECTION_HEADER_1_1_1_1_1_1_1_1_1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1" name="Google Shape;7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>
  <p:cSld name="CUSTOM_37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1">
  <p:cSld name="Diseño personalizado 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4">
  <p:cSld name="SECTION_HEADER_1_1_1_1_1_1_1_1_1_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5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21"/>
          <p:cNvSpPr/>
          <p:nvPr/>
        </p:nvSpPr>
        <p:spPr>
          <a:xfrm>
            <a:off x="4202558" y="994173"/>
            <a:ext cx="738900" cy="738900"/>
          </a:xfrm>
          <a:prstGeom prst="ellipse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4" name="Google Shape;774;p121" title="ícono de desafío entregab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9559" y="1149263"/>
            <a:ext cx="428721" cy="428726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121"/>
          <p:cNvSpPr txBox="1"/>
          <p:nvPr/>
        </p:nvSpPr>
        <p:spPr>
          <a:xfrm>
            <a:off x="1334800" y="1941250"/>
            <a:ext cx="6221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40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Proyecto Final</a:t>
            </a:r>
            <a:endParaRPr sz="40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7" name="Google Shape;777;p121"/>
          <p:cNvSpPr/>
          <p:nvPr/>
        </p:nvSpPr>
        <p:spPr>
          <a:xfrm>
            <a:off x="4697800" y="821750"/>
            <a:ext cx="381900" cy="381900"/>
          </a:xfrm>
          <a:prstGeom prst="ellipse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23"/>
          <p:cNvSpPr/>
          <p:nvPr/>
        </p:nvSpPr>
        <p:spPr>
          <a:xfrm>
            <a:off x="457346" y="468198"/>
            <a:ext cx="431100" cy="431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p123" title="ícono de desafío entregab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106" y="558677"/>
            <a:ext cx="250116" cy="250118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23"/>
          <p:cNvSpPr txBox="1"/>
          <p:nvPr/>
        </p:nvSpPr>
        <p:spPr>
          <a:xfrm>
            <a:off x="457346" y="1995760"/>
            <a:ext cx="8694661" cy="231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Consigna</a:t>
            </a:r>
            <a:endParaRPr sz="1350" b="1" i="0" u="none" strike="noStrike" cap="none" dirty="0">
              <a:solidFill>
                <a:srgbClr val="000000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142875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</a:pPr>
            <a:r>
              <a:rPr lang="es" sz="135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Crearás un notebook que debe contener como mínimo lo siguiente: </a:t>
            </a:r>
          </a:p>
          <a:p>
            <a:pPr marL="142875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</a:pPr>
            <a:endParaRPr lang="es" sz="1350" b="0" i="0" u="none" strike="noStrike" cap="none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fontAlgn="base"/>
            <a:r>
              <a:rPr lang="es-ES" b="1" i="1" u="sng" dirty="0">
                <a:latin typeface="+mn-lt"/>
              </a:rPr>
              <a:t>Resumen </a:t>
            </a:r>
            <a:r>
              <a:rPr lang="es-ES" dirty="0">
                <a:latin typeface="+mn-lt"/>
              </a:rPr>
              <a:t>– </a:t>
            </a:r>
            <a:r>
              <a:rPr lang="es-ES" dirty="0"/>
              <a:t>Una breve descripción donde menciona el </a:t>
            </a:r>
            <a:r>
              <a:rPr lang="es-AR" dirty="0"/>
              <a:t>contenido principal, </a:t>
            </a:r>
            <a:r>
              <a:rPr lang="es-ES" dirty="0"/>
              <a:t>los hallazgos clave del trabajo de manera concisa y precisa.</a:t>
            </a:r>
          </a:p>
          <a:p>
            <a:pPr fontAlgn="base"/>
            <a:endParaRPr lang="es-ES" dirty="0">
              <a:latin typeface="+mn-lt"/>
            </a:endParaRPr>
          </a:p>
          <a:p>
            <a:pPr fontAlgn="base"/>
            <a:r>
              <a:rPr lang="es-ES" b="1" i="1" u="sng" dirty="0">
                <a:latin typeface="+mn-lt"/>
              </a:rPr>
              <a:t>Objetivo</a:t>
            </a:r>
            <a:r>
              <a:rPr lang="es-ES" dirty="0">
                <a:latin typeface="+mn-lt"/>
              </a:rPr>
              <a:t> - Determinar qué es lo que desean resolver.</a:t>
            </a:r>
          </a:p>
          <a:p>
            <a:pPr fontAlgn="base"/>
            <a:endParaRPr lang="es-ES" dirty="0">
              <a:latin typeface="+mn-lt"/>
            </a:endParaRPr>
          </a:p>
          <a:p>
            <a:pPr fontAlgn="base"/>
            <a:r>
              <a:rPr lang="es-ES" b="1" i="1" u="sng" dirty="0">
                <a:latin typeface="+mn-lt"/>
              </a:rPr>
              <a:t>Contexto comercial</a:t>
            </a:r>
            <a:r>
              <a:rPr lang="es-ES" dirty="0">
                <a:latin typeface="+mn-lt"/>
              </a:rPr>
              <a:t> - Información acerca de  la empresa y posición en base al motivo del objetivo,  en este caso puede ser imaginativo.</a:t>
            </a:r>
          </a:p>
        </p:txBody>
      </p:sp>
      <p:sp>
        <p:nvSpPr>
          <p:cNvPr id="801" name="Google Shape;801;p123"/>
          <p:cNvSpPr txBox="1"/>
          <p:nvPr/>
        </p:nvSpPr>
        <p:spPr>
          <a:xfrm>
            <a:off x="501450" y="1081750"/>
            <a:ext cx="7310100" cy="641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s" sz="33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Estructurando un proyecto de DS</a:t>
            </a:r>
            <a:endParaRPr sz="33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02" name="Google Shape;802;p1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123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PRÁCTICA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4" name="Google Shape;804;p123"/>
          <p:cNvSpPr txBox="1"/>
          <p:nvPr/>
        </p:nvSpPr>
        <p:spPr>
          <a:xfrm>
            <a:off x="4527575" y="1603375"/>
            <a:ext cx="4145700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5" name="Google Shape;805;p123"/>
          <p:cNvSpPr/>
          <p:nvPr/>
        </p:nvSpPr>
        <p:spPr>
          <a:xfrm>
            <a:off x="636450" y="838675"/>
            <a:ext cx="8036700" cy="6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23"/>
          <p:cNvSpPr/>
          <p:nvPr/>
        </p:nvSpPr>
        <p:spPr>
          <a:xfrm>
            <a:off x="457346" y="468198"/>
            <a:ext cx="431100" cy="431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p123" title="ícono de desafío entregab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106" y="558677"/>
            <a:ext cx="250116" cy="250118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23"/>
          <p:cNvSpPr txBox="1"/>
          <p:nvPr/>
        </p:nvSpPr>
        <p:spPr>
          <a:xfrm>
            <a:off x="457346" y="1617935"/>
            <a:ext cx="8694661" cy="327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 lang="es-ES" b="1" dirty="0"/>
          </a:p>
          <a:p>
            <a:r>
              <a:rPr lang="es-ES" b="1" i="1" u="sng" dirty="0">
                <a:latin typeface="+mn-lt"/>
              </a:rPr>
              <a:t>Hipótesis</a:t>
            </a:r>
            <a:r>
              <a:rPr lang="es-ES" i="1" u="sng" dirty="0">
                <a:latin typeface="+mn-lt"/>
              </a:rPr>
              <a:t> </a:t>
            </a:r>
            <a:r>
              <a:rPr lang="es-ES" i="1" dirty="0">
                <a:latin typeface="+mn-lt"/>
              </a:rPr>
              <a:t>- </a:t>
            </a:r>
            <a:r>
              <a:rPr lang="es-ES" dirty="0">
                <a:latin typeface="+mn-lt"/>
              </a:rPr>
              <a:t> se refiere a una suposición o afirmación que se formula antes de realizar un análisis con el objetivo de ser probada o refutada utilizando los datos disponibles. Por ejemplo:</a:t>
            </a:r>
          </a:p>
          <a:p>
            <a:endParaRPr lang="es-ES" sz="1350" b="0" i="0" u="sng" strike="noStrike" cap="none" dirty="0">
              <a:solidFill>
                <a:srgbClr val="83AEFB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fontAlgn="t"/>
            <a:r>
              <a:rPr lang="es-ES" sz="1200" dirty="0">
                <a:latin typeface="+mn-lt"/>
              </a:rPr>
              <a:t>Hipótesis de correlación: "Existe una correlación significativa entre X e Y, lo que sugiere una relación causal entre ambos factores".</a:t>
            </a:r>
          </a:p>
          <a:p>
            <a:pPr fontAlgn="t"/>
            <a:endParaRPr lang="es-ES" sz="1200" dirty="0">
              <a:latin typeface="+mn-lt"/>
            </a:endParaRPr>
          </a:p>
          <a:p>
            <a:pPr fontAlgn="t"/>
            <a:r>
              <a:rPr lang="es-ES" sz="1200" dirty="0">
                <a:latin typeface="+mn-lt"/>
              </a:rPr>
              <a:t>Hipótesis de clasificación: "Un modelo de aprendizaje automático será capaz de clasificar con precisión las instancias en diferentes categorías basadas en los siguientes atributos:…".</a:t>
            </a:r>
          </a:p>
          <a:p>
            <a:pPr fontAlgn="t"/>
            <a:endParaRPr lang="es-ES" sz="1200" dirty="0">
              <a:latin typeface="+mn-lt"/>
            </a:endParaRPr>
          </a:p>
          <a:p>
            <a:pPr fontAlgn="t"/>
            <a:r>
              <a:rPr lang="es-ES" sz="1200" dirty="0">
                <a:latin typeface="+mn-lt"/>
              </a:rPr>
              <a:t>Hipótesis de regresión: "Utilizando datos históricos y técnicas de modelado, se puede desarrollar un modelo que prediga con precisión el valor futuro de la variable objetivo XYZ".</a:t>
            </a:r>
          </a:p>
          <a:p>
            <a:pPr fontAlgn="t"/>
            <a:endParaRPr lang="es-ES" sz="1200" dirty="0">
              <a:latin typeface="+mn-lt"/>
            </a:endParaRPr>
          </a:p>
          <a:p>
            <a:pPr fontAlgn="t"/>
            <a:r>
              <a:rPr lang="es-ES" sz="1200" dirty="0">
                <a:latin typeface="+mn-lt"/>
              </a:rPr>
              <a:t>Hipótesis de agrupamiento: "Los datos pueden ser agrupados en diferentes clústeres basados en similitudes en los atributos, lo que revelará patrones ocultos o segmentos distintos dentro del conjunto de datos".</a:t>
            </a:r>
          </a:p>
          <a:p>
            <a:endParaRPr sz="1350" b="0" i="0" u="sng" strike="noStrike" cap="none" dirty="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1" name="Google Shape;801;p123"/>
          <p:cNvSpPr txBox="1"/>
          <p:nvPr/>
        </p:nvSpPr>
        <p:spPr>
          <a:xfrm>
            <a:off x="501450" y="1081750"/>
            <a:ext cx="7310100" cy="641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s" sz="33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Estructurando un proyecto de DS</a:t>
            </a:r>
            <a:endParaRPr sz="33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02" name="Google Shape;802;p1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123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PRÁCTICA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4" name="Google Shape;804;p123"/>
          <p:cNvSpPr txBox="1"/>
          <p:nvPr/>
        </p:nvSpPr>
        <p:spPr>
          <a:xfrm>
            <a:off x="4527575" y="1603375"/>
            <a:ext cx="4145700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5" name="Google Shape;805;p123"/>
          <p:cNvSpPr/>
          <p:nvPr/>
        </p:nvSpPr>
        <p:spPr>
          <a:xfrm>
            <a:off x="636450" y="838675"/>
            <a:ext cx="8036700" cy="6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995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23"/>
          <p:cNvSpPr/>
          <p:nvPr/>
        </p:nvSpPr>
        <p:spPr>
          <a:xfrm>
            <a:off x="457346" y="468198"/>
            <a:ext cx="431100" cy="431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p123" title="ícono de desafío entregab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106" y="558677"/>
            <a:ext cx="250116" cy="250118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23"/>
          <p:cNvSpPr txBox="1"/>
          <p:nvPr/>
        </p:nvSpPr>
        <p:spPr>
          <a:xfrm>
            <a:off x="210799" y="2005100"/>
            <a:ext cx="8694661" cy="225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42875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</a:pPr>
            <a:endParaRPr lang="es" sz="1350" b="0" i="0" u="none" strike="noStrike" cap="none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142875" lvl="0">
              <a:buClr>
                <a:srgbClr val="EA90FF"/>
              </a:buClr>
              <a:buSzPts val="1350"/>
            </a:pPr>
            <a:r>
              <a:rPr lang="es" sz="135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1) </a:t>
            </a:r>
            <a:r>
              <a:rPr lang="es-ES" sz="135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Los pasos para un Análisis Exploratorio de Datos (EDA): Cargar los datos, exploración inicial, descripción de las variables, estadísticas descriptivas, visualización de datos, exploración de relaciones,</a:t>
            </a:r>
          </a:p>
          <a:p>
            <a:pPr marL="142875" lvl="0">
              <a:buClr>
                <a:srgbClr val="EA90FF"/>
              </a:buClr>
              <a:buSzPts val="1350"/>
            </a:pPr>
            <a:r>
              <a:rPr lang="es-ES" sz="135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manejo de valores atípicos y valores perdidos, análisis de variables relacionadas, resumen y conclusiones.</a:t>
            </a:r>
          </a:p>
          <a:p>
            <a:pPr marL="142875" lvl="0">
              <a:buClr>
                <a:srgbClr val="EA90FF"/>
              </a:buClr>
              <a:buSzPts val="1350"/>
            </a:pPr>
            <a:endParaRPr lang="es-ES" sz="1350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142875" lvl="0">
              <a:buClr>
                <a:srgbClr val="EA90FF"/>
              </a:buClr>
              <a:buSzPts val="1350"/>
            </a:pPr>
            <a:r>
              <a:rPr lang="es-ES" sz="135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2) Tomar un criterio de experto fundamentado en algún análisis analítico, gráfico y/o descriptivo para seleccionar las variables más importantes antes de entrenar su modelo, por eso la importancia de hacer un correcto EDA.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sng" strike="noStrike" cap="none" dirty="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1" name="Google Shape;801;p123"/>
          <p:cNvSpPr txBox="1"/>
          <p:nvPr/>
        </p:nvSpPr>
        <p:spPr>
          <a:xfrm>
            <a:off x="501450" y="1081750"/>
            <a:ext cx="7310100" cy="641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s" sz="33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Estructurando un proyecto de DS</a:t>
            </a:r>
            <a:endParaRPr sz="33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02" name="Google Shape;802;p1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123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PRÁCTICA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4" name="Google Shape;804;p123"/>
          <p:cNvSpPr txBox="1"/>
          <p:nvPr/>
        </p:nvSpPr>
        <p:spPr>
          <a:xfrm>
            <a:off x="4527575" y="1603375"/>
            <a:ext cx="4145700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5" name="Google Shape;805;p123"/>
          <p:cNvSpPr/>
          <p:nvPr/>
        </p:nvSpPr>
        <p:spPr>
          <a:xfrm>
            <a:off x="636450" y="838675"/>
            <a:ext cx="8036700" cy="6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8143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23"/>
          <p:cNvSpPr/>
          <p:nvPr/>
        </p:nvSpPr>
        <p:spPr>
          <a:xfrm>
            <a:off x="457346" y="468198"/>
            <a:ext cx="431100" cy="431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p123" title="ícono de desafío entregab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106" y="558677"/>
            <a:ext cx="250116" cy="250118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23"/>
          <p:cNvSpPr txBox="1"/>
          <p:nvPr/>
        </p:nvSpPr>
        <p:spPr>
          <a:xfrm>
            <a:off x="180244" y="1995760"/>
            <a:ext cx="8694661" cy="163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42875" lvl="0">
              <a:buClr>
                <a:srgbClr val="EA90FF"/>
              </a:buClr>
              <a:buSzPts val="1350"/>
            </a:pPr>
            <a:r>
              <a:rPr lang="es" sz="135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3) Elegir al menos un algoritmo de regresión o clasificación para entrenar con los datos elegidos.</a:t>
            </a:r>
          </a:p>
          <a:p>
            <a:pPr marL="142875" lvl="0">
              <a:buClr>
                <a:srgbClr val="EA90FF"/>
              </a:buClr>
              <a:buSzPts val="1350"/>
            </a:pPr>
            <a:endParaRPr lang="es" sz="1350" b="0" i="0" u="none" strike="noStrike" cap="none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142875" lvl="0">
              <a:buClr>
                <a:srgbClr val="EA90FF"/>
              </a:buClr>
              <a:buSzPts val="1350"/>
            </a:pPr>
            <a:r>
              <a:rPr lang="es" sz="135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4</a:t>
            </a:r>
            <a:r>
              <a:rPr lang="es" sz="135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) Calcular métricas bás</a:t>
            </a:r>
            <a:r>
              <a:rPr lang="es" sz="135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icas </a:t>
            </a:r>
            <a:r>
              <a:rPr lang="es" sz="135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para validar el modelo.</a:t>
            </a:r>
            <a:endParaRPr lang="es" sz="1350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142875" lvl="0">
              <a:buClr>
                <a:srgbClr val="EA90FF"/>
              </a:buClr>
              <a:buSzPts val="1350"/>
            </a:pPr>
            <a:endParaRPr lang="es" sz="1350" b="0" i="0" u="none" strike="noStrike" cap="none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142875" lvl="0">
              <a:buClr>
                <a:srgbClr val="EA90FF"/>
              </a:buClr>
              <a:buSzPts val="1350"/>
            </a:pPr>
            <a:r>
              <a:rPr lang="es" sz="135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5) Realizar </a:t>
            </a:r>
            <a:r>
              <a:rPr lang="es" sz="135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conclusiones en base a los resultados obtenidos.</a:t>
            </a:r>
            <a:endParaRPr sz="1350" b="0" i="0" u="none" strike="noStrike" cap="none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sng" strike="noStrike" cap="none" dirty="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1" name="Google Shape;801;p123"/>
          <p:cNvSpPr txBox="1"/>
          <p:nvPr/>
        </p:nvSpPr>
        <p:spPr>
          <a:xfrm>
            <a:off x="501450" y="1081750"/>
            <a:ext cx="7310100" cy="641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s" sz="33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Estructurando un proyecto de DS</a:t>
            </a:r>
            <a:endParaRPr sz="33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02" name="Google Shape;802;p1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123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PRÁCTICA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4" name="Google Shape;804;p123"/>
          <p:cNvSpPr txBox="1"/>
          <p:nvPr/>
        </p:nvSpPr>
        <p:spPr>
          <a:xfrm>
            <a:off x="4527575" y="1603375"/>
            <a:ext cx="4145700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 dirty="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5" name="Google Shape;805;p123"/>
          <p:cNvSpPr/>
          <p:nvPr/>
        </p:nvSpPr>
        <p:spPr>
          <a:xfrm>
            <a:off x="636450" y="838675"/>
            <a:ext cx="8036700" cy="6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662669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380</Words>
  <Application>Microsoft Office PowerPoint</Application>
  <PresentationFormat>Presentación en pantalla (16:9)</PresentationFormat>
  <Paragraphs>38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DM Sans</vt:lpstr>
      <vt:lpstr>Arial</vt:lpstr>
      <vt:lpstr>Helvetica Neue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Ruiz</dc:creator>
  <cp:lastModifiedBy>Jorge Ruiz</cp:lastModifiedBy>
  <cp:revision>12</cp:revision>
  <dcterms:modified xsi:type="dcterms:W3CDTF">2026-05-11T15:44:26Z</dcterms:modified>
</cp:coreProperties>
</file>